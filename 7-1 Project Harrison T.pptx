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58" r:id="rId4"/>
    <p:sldId id="259" r:id="rId5"/>
    <p:sldId id="260" r:id="rId6"/>
    <p:sldId id="261" r:id="rId7"/>
    <p:sldId id="262" r:id="rId8"/>
    <p:sldId id="263" r:id="rId9"/>
    <p:sldId id="267" r:id="rId10"/>
    <p:sldId id="269" r:id="rId11"/>
    <p:sldId id="271"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CEF3E4-7C2D-43D3-BF9B-C668F98B8A59}"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312C13-6CBC-4E62-8882-5DB94BDD409F}" type="slidenum">
              <a:rPr lang="en-US" smtClean="0"/>
              <a:t>‹#›</a:t>
            </a:fld>
            <a:endParaRPr lang="en-US"/>
          </a:p>
        </p:txBody>
      </p:sp>
    </p:spTree>
    <p:extLst>
      <p:ext uri="{BB962C8B-B14F-4D97-AF65-F5344CB8AC3E}">
        <p14:creationId xmlns:p14="http://schemas.microsoft.com/office/powerpoint/2010/main" val="3391019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audience to the concept of an ethical framework</a:t>
            </a:r>
          </a:p>
          <a:p>
            <a:r>
              <a:rPr lang="en-US" dirty="0"/>
              <a:t>Discuss the United Principles for AI in Society framework</a:t>
            </a:r>
          </a:p>
          <a:p>
            <a:r>
              <a:rPr lang="en-US" dirty="0"/>
              <a:t>Talk about how the framework attempts to address ethical AI concerns through the five principles</a:t>
            </a:r>
          </a:p>
        </p:txBody>
      </p:sp>
      <p:sp>
        <p:nvSpPr>
          <p:cNvPr id="4" name="Slide Number Placeholder 3"/>
          <p:cNvSpPr>
            <a:spLocks noGrp="1"/>
          </p:cNvSpPr>
          <p:nvPr>
            <p:ph type="sldNum" sz="quarter" idx="5"/>
          </p:nvPr>
        </p:nvSpPr>
        <p:spPr/>
        <p:txBody>
          <a:bodyPr/>
          <a:lstStyle/>
          <a:p>
            <a:fld id="{C0312C13-6CBC-4E62-8882-5DB94BDD409F}" type="slidenum">
              <a:rPr lang="en-US" smtClean="0"/>
              <a:t>2</a:t>
            </a:fld>
            <a:endParaRPr lang="en-US"/>
          </a:p>
        </p:txBody>
      </p:sp>
    </p:spTree>
    <p:extLst>
      <p:ext uri="{BB962C8B-B14F-4D97-AF65-F5344CB8AC3E}">
        <p14:creationId xmlns:p14="http://schemas.microsoft.com/office/powerpoint/2010/main" val="1934269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2023 AI policy </a:t>
            </a:r>
          </a:p>
          <a:p>
            <a:r>
              <a:rPr lang="en-US" dirty="0"/>
              <a:t>Discusses how ethical frameworks influence policy </a:t>
            </a:r>
          </a:p>
          <a:p>
            <a:endParaRPr lang="en-US" dirty="0"/>
          </a:p>
        </p:txBody>
      </p:sp>
      <p:sp>
        <p:nvSpPr>
          <p:cNvPr id="4" name="Slide Number Placeholder 3"/>
          <p:cNvSpPr>
            <a:spLocks noGrp="1"/>
          </p:cNvSpPr>
          <p:nvPr>
            <p:ph type="sldNum" sz="quarter" idx="5"/>
          </p:nvPr>
        </p:nvSpPr>
        <p:spPr/>
        <p:txBody>
          <a:bodyPr/>
          <a:lstStyle/>
          <a:p>
            <a:fld id="{C0312C13-6CBC-4E62-8882-5DB94BDD409F}" type="slidenum">
              <a:rPr lang="en-US" smtClean="0"/>
              <a:t>3</a:t>
            </a:fld>
            <a:endParaRPr lang="en-US"/>
          </a:p>
        </p:txBody>
      </p:sp>
    </p:spTree>
    <p:extLst>
      <p:ext uri="{BB962C8B-B14F-4D97-AF65-F5344CB8AC3E}">
        <p14:creationId xmlns:p14="http://schemas.microsoft.com/office/powerpoint/2010/main" val="3246087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benefits of the 2023 AI policy</a:t>
            </a:r>
          </a:p>
          <a:p>
            <a:r>
              <a:rPr lang="en-US" dirty="0"/>
              <a:t>Talk about the divided aspects of the 2023 AI policy</a:t>
            </a:r>
          </a:p>
          <a:p>
            <a:r>
              <a:rPr lang="en-US" dirty="0"/>
              <a:t>Discuss how lawyers could be affected by the divided legislative AI policy </a:t>
            </a:r>
          </a:p>
          <a:p>
            <a:endParaRPr lang="en-US" dirty="0"/>
          </a:p>
        </p:txBody>
      </p:sp>
      <p:sp>
        <p:nvSpPr>
          <p:cNvPr id="4" name="Slide Number Placeholder 3"/>
          <p:cNvSpPr>
            <a:spLocks noGrp="1"/>
          </p:cNvSpPr>
          <p:nvPr>
            <p:ph type="sldNum" sz="quarter" idx="5"/>
          </p:nvPr>
        </p:nvSpPr>
        <p:spPr/>
        <p:txBody>
          <a:bodyPr/>
          <a:lstStyle/>
          <a:p>
            <a:fld id="{C0312C13-6CBC-4E62-8882-5DB94BDD409F}" type="slidenum">
              <a:rPr lang="en-US" smtClean="0"/>
              <a:t>4</a:t>
            </a:fld>
            <a:endParaRPr lang="en-US"/>
          </a:p>
        </p:txBody>
      </p:sp>
    </p:spTree>
    <p:extLst>
      <p:ext uri="{BB962C8B-B14F-4D97-AF65-F5344CB8AC3E}">
        <p14:creationId xmlns:p14="http://schemas.microsoft.com/office/powerpoint/2010/main" val="1343852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the case studies of unethical AI use</a:t>
            </a:r>
          </a:p>
          <a:p>
            <a:r>
              <a:rPr lang="en-US" dirty="0"/>
              <a:t>Discuss why it is dangerous for these AI tools to be used in such ways</a:t>
            </a:r>
          </a:p>
          <a:p>
            <a:r>
              <a:rPr lang="en-US" dirty="0"/>
              <a:t> </a:t>
            </a:r>
          </a:p>
        </p:txBody>
      </p:sp>
      <p:sp>
        <p:nvSpPr>
          <p:cNvPr id="4" name="Slide Number Placeholder 3"/>
          <p:cNvSpPr>
            <a:spLocks noGrp="1"/>
          </p:cNvSpPr>
          <p:nvPr>
            <p:ph type="sldNum" sz="quarter" idx="5"/>
          </p:nvPr>
        </p:nvSpPr>
        <p:spPr/>
        <p:txBody>
          <a:bodyPr/>
          <a:lstStyle/>
          <a:p>
            <a:fld id="{C0312C13-6CBC-4E62-8882-5DB94BDD409F}" type="slidenum">
              <a:rPr lang="en-US" smtClean="0"/>
              <a:t>5</a:t>
            </a:fld>
            <a:endParaRPr lang="en-US"/>
          </a:p>
        </p:txBody>
      </p:sp>
    </p:spTree>
    <p:extLst>
      <p:ext uri="{BB962C8B-B14F-4D97-AF65-F5344CB8AC3E}">
        <p14:creationId xmlns:p14="http://schemas.microsoft.com/office/powerpoint/2010/main" val="23843325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how each use case is similar</a:t>
            </a:r>
          </a:p>
          <a:p>
            <a:r>
              <a:rPr lang="en-US" dirty="0"/>
              <a:t>Discuss how AI can influence how someone works</a:t>
            </a:r>
          </a:p>
        </p:txBody>
      </p:sp>
      <p:sp>
        <p:nvSpPr>
          <p:cNvPr id="4" name="Slide Number Placeholder 3"/>
          <p:cNvSpPr>
            <a:spLocks noGrp="1"/>
          </p:cNvSpPr>
          <p:nvPr>
            <p:ph type="sldNum" sz="quarter" idx="5"/>
          </p:nvPr>
        </p:nvSpPr>
        <p:spPr/>
        <p:txBody>
          <a:bodyPr/>
          <a:lstStyle/>
          <a:p>
            <a:fld id="{C0312C13-6CBC-4E62-8882-5DB94BDD409F}" type="slidenum">
              <a:rPr lang="en-US" smtClean="0"/>
              <a:t>6</a:t>
            </a:fld>
            <a:endParaRPr lang="en-US"/>
          </a:p>
        </p:txBody>
      </p:sp>
    </p:spTree>
    <p:extLst>
      <p:ext uri="{BB962C8B-B14F-4D97-AF65-F5344CB8AC3E}">
        <p14:creationId xmlns:p14="http://schemas.microsoft.com/office/powerpoint/2010/main" val="1225191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how AI will impact people</a:t>
            </a:r>
          </a:p>
          <a:p>
            <a:r>
              <a:rPr lang="en-US" dirty="0"/>
              <a:t>Talk about the positives of ethical AI</a:t>
            </a:r>
          </a:p>
          <a:p>
            <a:r>
              <a:rPr lang="en-US" dirty="0"/>
              <a:t>Talk about the negatives of unethical AI</a:t>
            </a:r>
          </a:p>
        </p:txBody>
      </p:sp>
      <p:sp>
        <p:nvSpPr>
          <p:cNvPr id="4" name="Slide Number Placeholder 3"/>
          <p:cNvSpPr>
            <a:spLocks noGrp="1"/>
          </p:cNvSpPr>
          <p:nvPr>
            <p:ph type="sldNum" sz="quarter" idx="5"/>
          </p:nvPr>
        </p:nvSpPr>
        <p:spPr/>
        <p:txBody>
          <a:bodyPr/>
          <a:lstStyle/>
          <a:p>
            <a:fld id="{C0312C13-6CBC-4E62-8882-5DB94BDD409F}" type="slidenum">
              <a:rPr lang="en-US" smtClean="0"/>
              <a:t>7</a:t>
            </a:fld>
            <a:endParaRPr lang="en-US"/>
          </a:p>
        </p:txBody>
      </p:sp>
    </p:spTree>
    <p:extLst>
      <p:ext uri="{BB962C8B-B14F-4D97-AF65-F5344CB8AC3E}">
        <p14:creationId xmlns:p14="http://schemas.microsoft.com/office/powerpoint/2010/main" val="2963169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recommendations to avoid unethical AI use</a:t>
            </a:r>
          </a:p>
          <a:p>
            <a:r>
              <a:rPr lang="en-US" dirty="0"/>
              <a:t>Discuss how the creation of new guidelines can prevent misuse of AI</a:t>
            </a:r>
          </a:p>
        </p:txBody>
      </p:sp>
      <p:sp>
        <p:nvSpPr>
          <p:cNvPr id="4" name="Slide Number Placeholder 3"/>
          <p:cNvSpPr>
            <a:spLocks noGrp="1"/>
          </p:cNvSpPr>
          <p:nvPr>
            <p:ph type="sldNum" sz="quarter" idx="5"/>
          </p:nvPr>
        </p:nvSpPr>
        <p:spPr/>
        <p:txBody>
          <a:bodyPr/>
          <a:lstStyle/>
          <a:p>
            <a:fld id="{C0312C13-6CBC-4E62-8882-5DB94BDD409F}" type="slidenum">
              <a:rPr lang="en-US" smtClean="0"/>
              <a:t>8</a:t>
            </a:fld>
            <a:endParaRPr lang="en-US"/>
          </a:p>
        </p:txBody>
      </p:sp>
    </p:spTree>
    <p:extLst>
      <p:ext uri="{BB962C8B-B14F-4D97-AF65-F5344CB8AC3E}">
        <p14:creationId xmlns:p14="http://schemas.microsoft.com/office/powerpoint/2010/main" val="544961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risks of using AI in the legal system</a:t>
            </a:r>
          </a:p>
          <a:p>
            <a:r>
              <a:rPr lang="en-US" dirty="0"/>
              <a:t>Discuss the hazards of AI in the legal system</a:t>
            </a:r>
          </a:p>
          <a:p>
            <a:r>
              <a:rPr lang="en-US" dirty="0"/>
              <a:t>Discuss how organizations and individuals are treated, due to AI hazards</a:t>
            </a:r>
          </a:p>
        </p:txBody>
      </p:sp>
      <p:sp>
        <p:nvSpPr>
          <p:cNvPr id="4" name="Slide Number Placeholder 3"/>
          <p:cNvSpPr>
            <a:spLocks noGrp="1"/>
          </p:cNvSpPr>
          <p:nvPr>
            <p:ph type="sldNum" sz="quarter" idx="5"/>
          </p:nvPr>
        </p:nvSpPr>
        <p:spPr/>
        <p:txBody>
          <a:bodyPr/>
          <a:lstStyle/>
          <a:p>
            <a:fld id="{C0312C13-6CBC-4E62-8882-5DB94BDD409F}" type="slidenum">
              <a:rPr lang="en-US" smtClean="0"/>
              <a:t>9</a:t>
            </a:fld>
            <a:endParaRPr lang="en-US"/>
          </a:p>
        </p:txBody>
      </p:sp>
    </p:spTree>
    <p:extLst>
      <p:ext uri="{BB962C8B-B14F-4D97-AF65-F5344CB8AC3E}">
        <p14:creationId xmlns:p14="http://schemas.microsoft.com/office/powerpoint/2010/main" val="1989796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ethical strategies employees should take to minimize risk</a:t>
            </a:r>
          </a:p>
          <a:p>
            <a:r>
              <a:rPr lang="en-US" dirty="0"/>
              <a:t>Explain what steps an employee should take to prevent risks</a:t>
            </a:r>
          </a:p>
          <a:p>
            <a:r>
              <a:rPr lang="en-US" dirty="0"/>
              <a:t>Discuss what customers should be aware of</a:t>
            </a:r>
          </a:p>
          <a:p>
            <a:r>
              <a:rPr lang="en-US" dirty="0"/>
              <a:t>Explain what steps customers should take</a:t>
            </a:r>
          </a:p>
          <a:p>
            <a:r>
              <a:rPr lang="en-US" dirty="0"/>
              <a:t>Discuss how the ethical framework is used for risk-</a:t>
            </a:r>
            <a:r>
              <a:rPr lang="en-US" dirty="0" err="1"/>
              <a:t>mitigration</a:t>
            </a:r>
            <a:r>
              <a:rPr lang="en-US" dirty="0"/>
              <a:t> </a:t>
            </a:r>
          </a:p>
        </p:txBody>
      </p:sp>
      <p:sp>
        <p:nvSpPr>
          <p:cNvPr id="4" name="Slide Number Placeholder 3"/>
          <p:cNvSpPr>
            <a:spLocks noGrp="1"/>
          </p:cNvSpPr>
          <p:nvPr>
            <p:ph type="sldNum" sz="quarter" idx="5"/>
          </p:nvPr>
        </p:nvSpPr>
        <p:spPr/>
        <p:txBody>
          <a:bodyPr/>
          <a:lstStyle/>
          <a:p>
            <a:fld id="{C0312C13-6CBC-4E62-8882-5DB94BDD409F}" type="slidenum">
              <a:rPr lang="en-US" smtClean="0"/>
              <a:t>10</a:t>
            </a:fld>
            <a:endParaRPr lang="en-US"/>
          </a:p>
        </p:txBody>
      </p:sp>
    </p:spTree>
    <p:extLst>
      <p:ext uri="{BB962C8B-B14F-4D97-AF65-F5344CB8AC3E}">
        <p14:creationId xmlns:p14="http://schemas.microsoft.com/office/powerpoint/2010/main" val="12628078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who is responsible for the employee training and documentation</a:t>
            </a:r>
          </a:p>
          <a:p>
            <a:r>
              <a:rPr lang="en-US" dirty="0"/>
              <a:t>Discuss who handles policy updates, training, and documentation</a:t>
            </a:r>
          </a:p>
        </p:txBody>
      </p:sp>
      <p:sp>
        <p:nvSpPr>
          <p:cNvPr id="4" name="Slide Number Placeholder 3"/>
          <p:cNvSpPr>
            <a:spLocks noGrp="1"/>
          </p:cNvSpPr>
          <p:nvPr>
            <p:ph type="sldNum" sz="quarter" idx="5"/>
          </p:nvPr>
        </p:nvSpPr>
        <p:spPr/>
        <p:txBody>
          <a:bodyPr/>
          <a:lstStyle/>
          <a:p>
            <a:fld id="{C0312C13-6CBC-4E62-8882-5DB94BDD409F}" type="slidenum">
              <a:rPr lang="en-US" smtClean="0"/>
              <a:t>11</a:t>
            </a:fld>
            <a:endParaRPr lang="en-US"/>
          </a:p>
        </p:txBody>
      </p:sp>
    </p:spTree>
    <p:extLst>
      <p:ext uri="{BB962C8B-B14F-4D97-AF65-F5344CB8AC3E}">
        <p14:creationId xmlns:p14="http://schemas.microsoft.com/office/powerpoint/2010/main" val="10124142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 references to sources during the delivery of the presentation </a:t>
            </a:r>
          </a:p>
        </p:txBody>
      </p:sp>
      <p:sp>
        <p:nvSpPr>
          <p:cNvPr id="4" name="Slide Number Placeholder 3"/>
          <p:cNvSpPr>
            <a:spLocks noGrp="1"/>
          </p:cNvSpPr>
          <p:nvPr>
            <p:ph type="sldNum" sz="quarter" idx="5"/>
          </p:nvPr>
        </p:nvSpPr>
        <p:spPr/>
        <p:txBody>
          <a:bodyPr/>
          <a:lstStyle/>
          <a:p>
            <a:fld id="{C0312C13-6CBC-4E62-8882-5DB94BDD409F}" type="slidenum">
              <a:rPr lang="en-US" smtClean="0"/>
              <a:t>12</a:t>
            </a:fld>
            <a:endParaRPr lang="en-US"/>
          </a:p>
        </p:txBody>
      </p:sp>
    </p:spTree>
    <p:extLst>
      <p:ext uri="{BB962C8B-B14F-4D97-AF65-F5344CB8AC3E}">
        <p14:creationId xmlns:p14="http://schemas.microsoft.com/office/powerpoint/2010/main" val="36368821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7F3F5C3-D4F1-4A16-B2D3-CD4379DCAADE}" type="slidenum">
              <a:rPr lang="en-US" smtClean="0"/>
              <a:t>‹#›</a:t>
            </a:fld>
            <a:endParaRPr lang="en-US"/>
          </a:p>
        </p:txBody>
      </p:sp>
    </p:spTree>
    <p:extLst>
      <p:ext uri="{BB962C8B-B14F-4D97-AF65-F5344CB8AC3E}">
        <p14:creationId xmlns:p14="http://schemas.microsoft.com/office/powerpoint/2010/main" val="2900832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7F3F5C3-D4F1-4A16-B2D3-CD4379DCAADE}"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6899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57F3F5C3-D4F1-4A16-B2D3-CD4379DCAADE}" type="slidenum">
              <a:rPr lang="en-US" smtClean="0"/>
              <a:t>‹#›</a:t>
            </a:fld>
            <a:endParaRPr lang="en-US"/>
          </a:p>
        </p:txBody>
      </p:sp>
    </p:spTree>
    <p:extLst>
      <p:ext uri="{BB962C8B-B14F-4D97-AF65-F5344CB8AC3E}">
        <p14:creationId xmlns:p14="http://schemas.microsoft.com/office/powerpoint/2010/main" val="1108642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57F3F5C3-D4F1-4A16-B2D3-CD4379DCAADE}" type="slidenum">
              <a:rPr lang="en-US" smtClean="0"/>
              <a:t>‹#›</a:t>
            </a:fld>
            <a:endParaRPr lang="en-US"/>
          </a:p>
        </p:txBody>
      </p:sp>
    </p:spTree>
    <p:extLst>
      <p:ext uri="{BB962C8B-B14F-4D97-AF65-F5344CB8AC3E}">
        <p14:creationId xmlns:p14="http://schemas.microsoft.com/office/powerpoint/2010/main" val="228453188"/>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57F3F5C3-D4F1-4A16-B2D3-CD4379DCAADE}" type="slidenum">
              <a:rPr lang="en-US" smtClean="0"/>
              <a:t>‹#›</a:t>
            </a:fld>
            <a:endParaRPr lang="en-US"/>
          </a:p>
        </p:txBody>
      </p:sp>
    </p:spTree>
    <p:extLst>
      <p:ext uri="{BB962C8B-B14F-4D97-AF65-F5344CB8AC3E}">
        <p14:creationId xmlns:p14="http://schemas.microsoft.com/office/powerpoint/2010/main" val="42272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57F3F5C3-D4F1-4A16-B2D3-CD4379DCAAD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0434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57F3F5C3-D4F1-4A16-B2D3-CD4379DCAAD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Tree>
    <p:extLst>
      <p:ext uri="{BB962C8B-B14F-4D97-AF65-F5344CB8AC3E}">
        <p14:creationId xmlns:p14="http://schemas.microsoft.com/office/powerpoint/2010/main" val="2366078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57F3F5C3-D4F1-4A16-B2D3-CD4379DCAADE}"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886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57F3F5C3-D4F1-4A16-B2D3-CD4379DCAADE}"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61698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F4806985-E62C-4135-A5E2-184D55F54DB2}" type="datetimeFigureOut">
              <a:rPr lang="en-US" smtClean="0"/>
              <a:t>8/16/2026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57F3F5C3-D4F1-4A16-B2D3-CD4379DCAAD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723512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F4806985-E62C-4135-A5E2-184D55F54DB2}" type="datetimeFigureOut">
              <a:rPr lang="en-US" smtClean="0"/>
              <a:t>8/16/2026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57F3F5C3-D4F1-4A16-B2D3-CD4379DCAADE}"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3165037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F4806985-E62C-4135-A5E2-184D55F54DB2}" type="datetimeFigureOut">
              <a:rPr lang="en-US" smtClean="0"/>
              <a:t>8/16/2026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57F3F5C3-D4F1-4A16-B2D3-CD4379DCAADE}"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11229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F4806985-E62C-4135-A5E2-184D55F54DB2}" type="datetimeFigureOut">
              <a:rPr lang="en-US" smtClean="0"/>
              <a:t>8/16/2026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57F3F5C3-D4F1-4A16-B2D3-CD4379DCAADE}"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02811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F4806985-E62C-4135-A5E2-184D55F54DB2}" type="datetimeFigureOut">
              <a:rPr lang="en-US" smtClean="0"/>
              <a:t>8/16/2026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57F3F5C3-D4F1-4A16-B2D3-CD4379DCAADE}"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35527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F4806985-E62C-4135-A5E2-184D55F54DB2}" type="datetimeFigureOut">
              <a:rPr lang="en-US" smtClean="0"/>
              <a:t>8/16/2026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57F3F5C3-D4F1-4A16-B2D3-CD4379DCAADE}"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075328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F4806985-E62C-4135-A5E2-184D55F54DB2}" type="datetimeFigureOut">
              <a:rPr lang="en-US" smtClean="0"/>
              <a:t>8/16/2026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57F3F5C3-D4F1-4A16-B2D3-CD4379DCAADE}"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1888416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F4806985-E62C-4135-A5E2-184D55F54DB2}" type="datetimeFigureOut">
              <a:rPr lang="en-US" smtClean="0"/>
              <a:t>8/16/2026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7F3F5C3-D4F1-4A16-B2D3-CD4379DCAADE}"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289603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F4806985-E62C-4135-A5E2-184D55F54DB2}" type="datetimeFigureOut">
              <a:rPr lang="en-US" smtClean="0"/>
              <a:t>8/16/2026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57F3F5C3-D4F1-4A16-B2D3-CD4379DCAADE}"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725744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57F3F5C3-D4F1-4A16-B2D3-CD4379DCAADE}" type="slidenum">
              <a:rPr lang="en-US" smtClean="0"/>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p>
        </p:txBody>
      </p:sp>
    </p:spTree>
    <p:extLst>
      <p:ext uri="{BB962C8B-B14F-4D97-AF65-F5344CB8AC3E}">
        <p14:creationId xmlns:p14="http://schemas.microsoft.com/office/powerpoint/2010/main" val="27204539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57F3F5C3-D4F1-4A16-B2D3-CD4379DCAADE}"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002204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57F3F5C3-D4F1-4A16-B2D3-CD4379DCAADE}" type="slidenum">
              <a:rPr lang="en-US" smtClean="0"/>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38040307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57F3F5C3-D4F1-4A16-B2D3-CD4379DCAADE}" type="slidenum">
              <a:rPr lang="en-US" smtClean="0"/>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86279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57F3F5C3-D4F1-4A16-B2D3-CD4379DCAADE}"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510571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57F3F5C3-D4F1-4A16-B2D3-CD4379DCAADE}" type="slidenum">
              <a:rPr lang="en-US" smtClean="0"/>
              <a:t>‹#›</a:t>
            </a:fld>
            <a:endParaRPr lang="en-US"/>
          </a:p>
        </p:txBody>
      </p:sp>
    </p:spTree>
    <p:extLst>
      <p:ext uri="{BB962C8B-B14F-4D97-AF65-F5344CB8AC3E}">
        <p14:creationId xmlns:p14="http://schemas.microsoft.com/office/powerpoint/2010/main" val="347184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57F3F5C3-D4F1-4A16-B2D3-CD4379DCAADE}" type="slidenum">
              <a:rPr lang="en-US" smtClean="0"/>
              <a:t>‹#›</a:t>
            </a:fld>
            <a:endParaRPr lang="en-US"/>
          </a:p>
        </p:txBody>
      </p:sp>
    </p:spTree>
    <p:extLst>
      <p:ext uri="{BB962C8B-B14F-4D97-AF65-F5344CB8AC3E}">
        <p14:creationId xmlns:p14="http://schemas.microsoft.com/office/powerpoint/2010/main" val="6667174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7F3F5C3-D4F1-4A16-B2D3-CD4379DCAADE}" type="slidenum">
              <a:rPr lang="en-US" smtClean="0"/>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46963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4806985-E62C-4135-A5E2-184D55F54DB2}" type="datetimeFigureOut">
              <a:rPr lang="en-US" smtClean="0"/>
              <a:t>8/16/2026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7F3F5C3-D4F1-4A16-B2D3-CD4379DCAADE}" type="slidenum">
              <a:rPr lang="en-US" smtClean="0"/>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197182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DA980-FBB2-3164-89F5-4E5CD60DE4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13D522-7283-4B89-6485-2158E962EE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5ABBB61-EE1F-5699-49CC-7585D698C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2C252D-6B49-B887-5E39-13F364713562}"/>
              </a:ext>
            </a:extLst>
          </p:cNvPr>
          <p:cNvSpPr>
            <a:spLocks noGrp="1"/>
          </p:cNvSpPr>
          <p:nvPr>
            <p:ph type="dt" sz="half" idx="10"/>
          </p:nvPr>
        </p:nvSpPr>
        <p:spPr/>
        <p:txBody>
          <a:bodyPr/>
          <a:lstStyle/>
          <a:p>
            <a:fld id="{F4806985-E62C-4135-A5E2-184D55F54DB2}" type="datetimeFigureOut">
              <a:rPr lang="en-US" smtClean="0"/>
              <a:t>8/16/2026</a:t>
            </a:fld>
            <a:endParaRPr lang="en-US"/>
          </a:p>
        </p:txBody>
      </p:sp>
      <p:sp>
        <p:nvSpPr>
          <p:cNvPr id="6" name="Footer Placeholder 5">
            <a:extLst>
              <a:ext uri="{FF2B5EF4-FFF2-40B4-BE49-F238E27FC236}">
                <a16:creationId xmlns:a16="http://schemas.microsoft.com/office/drawing/2014/main" id="{89C3A43A-71B2-8AEB-716C-9FBE4158F5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7D86E2-A341-540F-3AA7-BEE1EE7966D2}"/>
              </a:ext>
            </a:extLst>
          </p:cNvPr>
          <p:cNvSpPr>
            <a:spLocks noGrp="1"/>
          </p:cNvSpPr>
          <p:nvPr>
            <p:ph type="sldNum" sz="quarter" idx="12"/>
          </p:nvPr>
        </p:nvSpPr>
        <p:spPr/>
        <p:txBody>
          <a:bodyPr/>
          <a:lstStyle/>
          <a:p>
            <a:fld id="{57F3F5C3-D4F1-4A16-B2D3-CD4379DCAADE}" type="slidenum">
              <a:rPr lang="en-US" smtClean="0"/>
              <a:t>‹#›</a:t>
            </a:fld>
            <a:endParaRPr lang="en-US"/>
          </a:p>
        </p:txBody>
      </p:sp>
    </p:spTree>
    <p:extLst>
      <p:ext uri="{BB962C8B-B14F-4D97-AF65-F5344CB8AC3E}">
        <p14:creationId xmlns:p14="http://schemas.microsoft.com/office/powerpoint/2010/main" val="228991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F4806985-E62C-4135-A5E2-184D55F54DB2}" type="datetimeFigureOut">
              <a:rPr lang="en-US" smtClean="0"/>
              <a:t>8/16/2026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57F3F5C3-D4F1-4A16-B2D3-CD4379DCAADE}" type="slidenum">
              <a:rPr lang="en-US" smtClean="0"/>
              <a:t>‹#›</a:t>
            </a:fld>
            <a:endParaRPr lang="en-US"/>
          </a:p>
        </p:txBody>
      </p:sp>
    </p:spTree>
    <p:extLst>
      <p:ext uri="{BB962C8B-B14F-4D97-AF65-F5344CB8AC3E}">
        <p14:creationId xmlns:p14="http://schemas.microsoft.com/office/powerpoint/2010/main" val="359357861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1162/99608f92.8cd550d1" TargetMode="External"/><Relationship Id="rId7" Type="http://schemas.openxmlformats.org/officeDocument/2006/relationships/hyperlink" Target="https://www.propublica.org/article/machine-bias-risk-assessments-in-criminal-sentencing" TargetMode="External"/><Relationship Id="rId2" Type="http://schemas.openxmlformats.org/officeDocument/2006/relationships/notesSlide" Target="../notesSlides/notesSlide11.xml"/><Relationship Id="rId1" Type="http://schemas.openxmlformats.org/officeDocument/2006/relationships/slideLayout" Target="../slideLayouts/slideLayout28.xml"/><Relationship Id="rId6" Type="http://schemas.openxmlformats.org/officeDocument/2006/relationships/hyperlink" Target="https://www.thomsonreuters.com/en/institute/articles/shadow-ai-unsanctioned-tools" TargetMode="External"/><Relationship Id="rId5" Type="http://schemas.openxmlformats.org/officeDocument/2006/relationships/hyperlink" Target="https://www.ncsl.org/technology-and-communication/artificial-intelligence-2023-legislation" TargetMode="External"/><Relationship Id="rId4" Type="http://schemas.openxmlformats.org/officeDocument/2006/relationships/hyperlink" Target="https://www.npr.org/2023/12/15/1219512064/recent-cases-raise-questions-about-the-ethics-of-using-ai-in-the-legal-syste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3E733-C51F-9291-A719-4E8304F38AA8}"/>
              </a:ext>
            </a:extLst>
          </p:cNvPr>
          <p:cNvSpPr>
            <a:spLocks noGrp="1"/>
          </p:cNvSpPr>
          <p:nvPr>
            <p:ph type="ctrTitle"/>
          </p:nvPr>
        </p:nvSpPr>
        <p:spPr/>
        <p:txBody>
          <a:bodyPr/>
          <a:lstStyle/>
          <a:p>
            <a:r>
              <a:rPr lang="en-US" dirty="0"/>
              <a:t>Tamani Harrison</a:t>
            </a:r>
          </a:p>
        </p:txBody>
      </p:sp>
      <p:sp>
        <p:nvSpPr>
          <p:cNvPr id="3" name="Subtitle 2">
            <a:extLst>
              <a:ext uri="{FF2B5EF4-FFF2-40B4-BE49-F238E27FC236}">
                <a16:creationId xmlns:a16="http://schemas.microsoft.com/office/drawing/2014/main" id="{495129F5-5E8C-3E77-0835-007531651C1B}"/>
              </a:ext>
            </a:extLst>
          </p:cNvPr>
          <p:cNvSpPr>
            <a:spLocks noGrp="1"/>
          </p:cNvSpPr>
          <p:nvPr>
            <p:ph type="subTitle" idx="1"/>
          </p:nvPr>
        </p:nvSpPr>
        <p:spPr/>
        <p:txBody>
          <a:bodyPr>
            <a:normAutofit/>
          </a:bodyPr>
          <a:lstStyle/>
          <a:p>
            <a:r>
              <a:rPr lang="en-US" b="1" dirty="0"/>
              <a:t>Southern New Hampshire University</a:t>
            </a:r>
          </a:p>
          <a:p>
            <a:r>
              <a:rPr lang="en-US" b="1" dirty="0"/>
              <a:t>7-1 Project</a:t>
            </a:r>
          </a:p>
          <a:p>
            <a:r>
              <a:rPr lang="en-US" b="1" dirty="0"/>
              <a:t>Instructor Eidan Rosado</a:t>
            </a:r>
          </a:p>
          <a:p>
            <a:r>
              <a:rPr lang="en-US" b="1" dirty="0"/>
              <a:t>8/16/2026</a:t>
            </a:r>
          </a:p>
          <a:p>
            <a:endParaRPr lang="en-US" dirty="0"/>
          </a:p>
        </p:txBody>
      </p:sp>
    </p:spTree>
    <p:extLst>
      <p:ext uri="{BB962C8B-B14F-4D97-AF65-F5344CB8AC3E}">
        <p14:creationId xmlns:p14="http://schemas.microsoft.com/office/powerpoint/2010/main" val="364716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C738E-1ED0-6C68-7AC9-C95C45E659D0}"/>
              </a:ext>
            </a:extLst>
          </p:cNvPr>
          <p:cNvSpPr>
            <a:spLocks noGrp="1"/>
          </p:cNvSpPr>
          <p:nvPr>
            <p:ph type="title"/>
          </p:nvPr>
        </p:nvSpPr>
        <p:spPr>
          <a:xfrm>
            <a:off x="0" y="33728"/>
            <a:ext cx="3932237" cy="1600200"/>
          </a:xfrm>
        </p:spPr>
        <p:txBody>
          <a:bodyPr/>
          <a:lstStyle/>
          <a:p>
            <a:r>
              <a:rPr lang="en-US" dirty="0">
                <a:latin typeface="Times New Roman" panose="02020603050405020304" pitchFamily="18" charset="0"/>
                <a:cs typeface="Times New Roman" panose="02020603050405020304" pitchFamily="18" charset="0"/>
              </a:rPr>
              <a:t>Key characteristics of the ethics framework. </a:t>
            </a:r>
          </a:p>
        </p:txBody>
      </p:sp>
      <p:sp>
        <p:nvSpPr>
          <p:cNvPr id="4" name="Text Placeholder 3">
            <a:extLst>
              <a:ext uri="{FF2B5EF4-FFF2-40B4-BE49-F238E27FC236}">
                <a16:creationId xmlns:a16="http://schemas.microsoft.com/office/drawing/2014/main" id="{B942A48F-4EAC-763B-62A7-C56379C20FBA}"/>
              </a:ext>
            </a:extLst>
          </p:cNvPr>
          <p:cNvSpPr>
            <a:spLocks noGrp="1"/>
          </p:cNvSpPr>
          <p:nvPr>
            <p:ph type="body" sz="half" idx="2"/>
          </p:nvPr>
        </p:nvSpPr>
        <p:spPr>
          <a:xfrm>
            <a:off x="-2" y="1528997"/>
            <a:ext cx="12192002" cy="5329003"/>
          </a:xfrm>
        </p:spPr>
        <p:txBody>
          <a:bodyPr>
            <a:normAutofit fontScale="92500" lnSpcReduction="20000"/>
          </a:bodyPr>
          <a:lstStyle/>
          <a:p>
            <a:pPr>
              <a:lnSpc>
                <a:spcPct val="200000"/>
              </a:lnSpc>
            </a:pPr>
            <a:r>
              <a:rPr lang="en-US" dirty="0">
                <a:latin typeface="Times New Roman" panose="02020603050405020304" pitchFamily="18" charset="0"/>
                <a:cs typeface="Times New Roman" panose="02020603050405020304" pitchFamily="18" charset="0"/>
              </a:rPr>
              <a:t>The legal system is currently experiencing a shift in how cases are handled due to artificial intelligence. The United Principles for AI in Society framework focuses on how artificial intelligence will affect society &amp; what individuals will bear the brunt of its impact (</a:t>
            </a:r>
            <a:r>
              <a:rPr lang="en-US" dirty="0" err="1">
                <a:latin typeface="Times New Roman" panose="02020603050405020304" pitchFamily="18" charset="0"/>
                <a:cs typeface="Times New Roman" panose="02020603050405020304" pitchFamily="18" charset="0"/>
              </a:rPr>
              <a:t>Floridi</a:t>
            </a:r>
            <a:r>
              <a:rPr lang="en-US" dirty="0">
                <a:latin typeface="Times New Roman" panose="02020603050405020304" pitchFamily="18" charset="0"/>
                <a:cs typeface="Times New Roman" panose="02020603050405020304" pitchFamily="18" charset="0"/>
              </a:rPr>
              <a:t> &amp; Cowls, 2019). The framework examines multiple AI ethical principles to understand what makes an AI ethical &amp; if these principles are in line with the current standards for ethical AI or differ in their perspective on the situation (</a:t>
            </a:r>
            <a:r>
              <a:rPr lang="en-US" dirty="0" err="1">
                <a:latin typeface="Times New Roman" panose="02020603050405020304" pitchFamily="18" charset="0"/>
                <a:cs typeface="Times New Roman" panose="02020603050405020304" pitchFamily="18" charset="0"/>
              </a:rPr>
              <a:t>Floridi</a:t>
            </a:r>
            <a:r>
              <a:rPr lang="en-US" dirty="0">
                <a:latin typeface="Times New Roman" panose="02020603050405020304" pitchFamily="18" charset="0"/>
                <a:cs typeface="Times New Roman" panose="02020603050405020304" pitchFamily="18" charset="0"/>
              </a:rPr>
              <a:t> &amp; Cowls, 2019). </a:t>
            </a:r>
          </a:p>
          <a:p>
            <a:pPr>
              <a:lnSpc>
                <a:spcPct val="200000"/>
              </a:lnSpc>
            </a:pPr>
            <a:r>
              <a:rPr lang="en-US" dirty="0">
                <a:latin typeface="Times New Roman" panose="02020603050405020304" pitchFamily="18" charset="0"/>
                <a:cs typeface="Times New Roman" panose="02020603050405020304" pitchFamily="18" charset="0"/>
              </a:rPr>
              <a:t>The ethics framework looks to address the boundaries of AI and what the definition of that would mean as this technology evolves. The framework examines other AI frameworks and proceeds to delve into how their respective principles are relevant, such as promoting well-being, privacy, security, maintaining autonomy, avoiding discrimination, and accountability for AI (</a:t>
            </a:r>
            <a:r>
              <a:rPr lang="en-US" dirty="0" err="1">
                <a:latin typeface="Times New Roman" panose="02020603050405020304" pitchFamily="18" charset="0"/>
                <a:cs typeface="Times New Roman" panose="02020603050405020304" pitchFamily="18" charset="0"/>
              </a:rPr>
              <a:t>Floridi</a:t>
            </a:r>
            <a:r>
              <a:rPr lang="en-US" dirty="0">
                <a:latin typeface="Times New Roman" panose="02020603050405020304" pitchFamily="18" charset="0"/>
                <a:cs typeface="Times New Roman" panose="02020603050405020304" pitchFamily="18" charset="0"/>
              </a:rPr>
              <a:t> &amp; Cowls, 2019). This framework contains five principles, which each focused on human empowerment. Beneficence focuses on maintaining sustainability for humanity in the face of AI (</a:t>
            </a:r>
            <a:r>
              <a:rPr lang="en-US" dirty="0" err="1">
                <a:latin typeface="Times New Roman" panose="02020603050405020304" pitchFamily="18" charset="0"/>
                <a:cs typeface="Times New Roman" panose="02020603050405020304" pitchFamily="18" charset="0"/>
              </a:rPr>
              <a:t>Floridi</a:t>
            </a:r>
            <a:r>
              <a:rPr lang="en-US" dirty="0">
                <a:latin typeface="Times New Roman" panose="02020603050405020304" pitchFamily="18" charset="0"/>
                <a:cs typeface="Times New Roman" panose="02020603050405020304" pitchFamily="18" charset="0"/>
              </a:rPr>
              <a:t> &amp; Cowls, 2019). Non-maleficence focuses on ensuring that AI is not used inappropriately by violating security or privacy (</a:t>
            </a:r>
            <a:r>
              <a:rPr lang="en-US" dirty="0" err="1">
                <a:latin typeface="Times New Roman" panose="02020603050405020304" pitchFamily="18" charset="0"/>
                <a:cs typeface="Times New Roman" panose="02020603050405020304" pitchFamily="18" charset="0"/>
              </a:rPr>
              <a:t>Floridi</a:t>
            </a:r>
            <a:r>
              <a:rPr lang="en-US" dirty="0">
                <a:latin typeface="Times New Roman" panose="02020603050405020304" pitchFamily="18" charset="0"/>
                <a:cs typeface="Times New Roman" panose="02020603050405020304" pitchFamily="18" charset="0"/>
              </a:rPr>
              <a:t> &amp; Cowls, 2019). Autonomy ensures that humans remain in control of the situation, without letting an AI decide everything (</a:t>
            </a:r>
            <a:r>
              <a:rPr lang="en-US" dirty="0" err="1">
                <a:latin typeface="Times New Roman" panose="02020603050405020304" pitchFamily="18" charset="0"/>
                <a:cs typeface="Times New Roman" panose="02020603050405020304" pitchFamily="18" charset="0"/>
              </a:rPr>
              <a:t>Floridi</a:t>
            </a:r>
            <a:r>
              <a:rPr lang="en-US" dirty="0">
                <a:latin typeface="Times New Roman" panose="02020603050405020304" pitchFamily="18" charset="0"/>
                <a:cs typeface="Times New Roman" panose="02020603050405020304" pitchFamily="18" charset="0"/>
              </a:rPr>
              <a:t> &amp; Cowls, 2019). Justice focuses on ensuring that discrimination is avoided in AI datasets, so that they can deliver as accurate results as possible (</a:t>
            </a:r>
            <a:r>
              <a:rPr lang="en-US" dirty="0" err="1">
                <a:latin typeface="Times New Roman" panose="02020603050405020304" pitchFamily="18" charset="0"/>
                <a:cs typeface="Times New Roman" panose="02020603050405020304" pitchFamily="18" charset="0"/>
              </a:rPr>
              <a:t>Floridi</a:t>
            </a:r>
            <a:r>
              <a:rPr lang="en-US" dirty="0">
                <a:latin typeface="Times New Roman" panose="02020603050405020304" pitchFamily="18" charset="0"/>
                <a:cs typeface="Times New Roman" panose="02020603050405020304" pitchFamily="18" charset="0"/>
              </a:rPr>
              <a:t> &amp; Cowls, 2019). Explicability ties everything together to make sure that people understand how AI impacts society and whom to hold accountable for its actions (</a:t>
            </a:r>
            <a:r>
              <a:rPr lang="en-US" dirty="0" err="1">
                <a:latin typeface="Times New Roman" panose="02020603050405020304" pitchFamily="18" charset="0"/>
                <a:cs typeface="Times New Roman" panose="02020603050405020304" pitchFamily="18" charset="0"/>
              </a:rPr>
              <a:t>Floridi</a:t>
            </a:r>
            <a:r>
              <a:rPr lang="en-US" dirty="0">
                <a:latin typeface="Times New Roman" panose="02020603050405020304" pitchFamily="18" charset="0"/>
                <a:cs typeface="Times New Roman" panose="02020603050405020304" pitchFamily="18" charset="0"/>
              </a:rPr>
              <a:t> &amp; Cowls, 2019). </a:t>
            </a:r>
          </a:p>
        </p:txBody>
      </p:sp>
    </p:spTree>
    <p:extLst>
      <p:ext uri="{BB962C8B-B14F-4D97-AF65-F5344CB8AC3E}">
        <p14:creationId xmlns:p14="http://schemas.microsoft.com/office/powerpoint/2010/main" val="2025740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73F16-30DF-6544-536C-978B03F3CF4E}"/>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The ethical principles of the framework used in the policy guidelines</a:t>
            </a:r>
          </a:p>
        </p:txBody>
      </p:sp>
      <p:sp>
        <p:nvSpPr>
          <p:cNvPr id="4" name="Text Placeholder 3">
            <a:extLst>
              <a:ext uri="{FF2B5EF4-FFF2-40B4-BE49-F238E27FC236}">
                <a16:creationId xmlns:a16="http://schemas.microsoft.com/office/drawing/2014/main" id="{F62DD064-7B1E-8375-5127-9B8353EF0771}"/>
              </a:ext>
            </a:extLst>
          </p:cNvPr>
          <p:cNvSpPr>
            <a:spLocks noGrp="1"/>
          </p:cNvSpPr>
          <p:nvPr>
            <p:ph type="body" sz="half" idx="2"/>
          </p:nvPr>
        </p:nvSpPr>
        <p:spPr>
          <a:xfrm>
            <a:off x="-1" y="2057400"/>
            <a:ext cx="6310859" cy="4800600"/>
          </a:xfrm>
        </p:spPr>
        <p:txBody>
          <a:bodyPr>
            <a:normAutofit fontScale="85000" lnSpcReduction="10000"/>
          </a:bodyPr>
          <a:lstStyle/>
          <a:p>
            <a:pPr>
              <a:lnSpc>
                <a:spcPct val="200000"/>
              </a:lnSpc>
            </a:pPr>
            <a:r>
              <a:rPr lang="en-US" dirty="0">
                <a:latin typeface="Times New Roman" panose="02020603050405020304" pitchFamily="18" charset="0"/>
                <a:cs typeface="Times New Roman" panose="02020603050405020304" pitchFamily="18" charset="0"/>
              </a:rPr>
              <a:t>The 2023 artificial intelligence policy aims to rein in AI negligence and misuse by creating a federal standardized policy to ensure AI systems are responsibly built and managed (NCSL, 2023). The principles of the ethical framework influence the policies through the promotion of beneficence, which can help detail how sustainable the AI is for the worker and the world (</a:t>
            </a:r>
            <a:r>
              <a:rPr lang="en-US" dirty="0" err="1">
                <a:latin typeface="Times New Roman" panose="02020603050405020304" pitchFamily="18" charset="0"/>
                <a:cs typeface="Times New Roman" panose="02020603050405020304" pitchFamily="18" charset="0"/>
              </a:rPr>
              <a:t>Floridi</a:t>
            </a:r>
            <a:r>
              <a:rPr lang="en-US" dirty="0">
                <a:latin typeface="Times New Roman" panose="02020603050405020304" pitchFamily="18" charset="0"/>
                <a:cs typeface="Times New Roman" panose="02020603050405020304" pitchFamily="18" charset="0"/>
              </a:rPr>
              <a:t> &amp; Cowls, 2019). The incorporation of non-maleficence, justice, and explicability in the progression of AI legislation and development is necessary to create AI systems that people understand and that the people behind them can be held accountable when there are privacy and security concerns or biased outcomes in the algorithm (</a:t>
            </a:r>
            <a:r>
              <a:rPr lang="en-US" dirty="0" err="1">
                <a:latin typeface="Times New Roman" panose="02020603050405020304" pitchFamily="18" charset="0"/>
                <a:cs typeface="Times New Roman" panose="02020603050405020304" pitchFamily="18" charset="0"/>
              </a:rPr>
              <a:t>Floridi</a:t>
            </a:r>
            <a:r>
              <a:rPr lang="en-US" dirty="0">
                <a:latin typeface="Times New Roman" panose="02020603050405020304" pitchFamily="18" charset="0"/>
                <a:cs typeface="Times New Roman" panose="02020603050405020304" pitchFamily="18" charset="0"/>
              </a:rPr>
              <a:t> &amp; Cowls, 2019). The United Principles framework and the 2023 AI policy both understand that accountability and transparency are necessary to prevent discrimination and corporate negligence. </a:t>
            </a:r>
          </a:p>
        </p:txBody>
      </p:sp>
    </p:spTree>
    <p:extLst>
      <p:ext uri="{BB962C8B-B14F-4D97-AF65-F5344CB8AC3E}">
        <p14:creationId xmlns:p14="http://schemas.microsoft.com/office/powerpoint/2010/main" val="2948436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93D83-B350-3808-D5A6-4316BF5D411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Recommendations for policy improvement</a:t>
            </a:r>
          </a:p>
        </p:txBody>
      </p:sp>
      <p:sp>
        <p:nvSpPr>
          <p:cNvPr id="4" name="Text Placeholder 3">
            <a:extLst>
              <a:ext uri="{FF2B5EF4-FFF2-40B4-BE49-F238E27FC236}">
                <a16:creationId xmlns:a16="http://schemas.microsoft.com/office/drawing/2014/main" id="{6E1E02DC-B968-9F88-411C-1A91F30D9BFE}"/>
              </a:ext>
            </a:extLst>
          </p:cNvPr>
          <p:cNvSpPr>
            <a:spLocks noGrp="1"/>
          </p:cNvSpPr>
          <p:nvPr>
            <p:ph type="body" sz="half" idx="2"/>
          </p:nvPr>
        </p:nvSpPr>
        <p:spPr>
          <a:xfrm>
            <a:off x="0" y="2057400"/>
            <a:ext cx="7255239" cy="4800600"/>
          </a:xfrm>
        </p:spPr>
        <p:txBody>
          <a:bodyPr>
            <a:normAutofit fontScale="92500"/>
          </a:bodyPr>
          <a:lstStyle/>
          <a:p>
            <a:pPr>
              <a:lnSpc>
                <a:spcPct val="200000"/>
              </a:lnSpc>
            </a:pPr>
            <a:r>
              <a:rPr lang="en-US" dirty="0">
                <a:latin typeface="Times New Roman" panose="02020603050405020304" pitchFamily="18" charset="0"/>
                <a:cs typeface="Times New Roman" panose="02020603050405020304" pitchFamily="18" charset="0"/>
              </a:rPr>
              <a:t>The 2023 AI policy could benefit from having a unified mindset. There was an overall goal focused on building secure and accountable systems. But the legislative session was divided due to the introduction of over 25 different AI policies by different U.S. states and territories (NCSL, 2023). While different states do have their own needs and laws, there remains a unified legal system across the country. A lawyer in one state could legally use ChatGPT, while another could ban such behavior as the lawyer loses their autonomy over court cases (“Recent Cases Raise Questions about the Ethics of Using AI in the Legal System,” 2023). The policy needs to be reworked to incorporate a unified legislative policy focused on addressing issues of societal concern, like the growth of artificial autonomy &amp; shrinkage of privacy due to AI models consuming large amounts of data. </a:t>
            </a:r>
          </a:p>
          <a:p>
            <a:endParaRPr lang="en-US" dirty="0"/>
          </a:p>
        </p:txBody>
      </p:sp>
    </p:spTree>
    <p:extLst>
      <p:ext uri="{BB962C8B-B14F-4D97-AF65-F5344CB8AC3E}">
        <p14:creationId xmlns:p14="http://schemas.microsoft.com/office/powerpoint/2010/main" val="3788311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297D4-F96E-EBAC-6178-7BC22029B15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AI was used unethically </a:t>
            </a:r>
          </a:p>
        </p:txBody>
      </p:sp>
      <p:sp>
        <p:nvSpPr>
          <p:cNvPr id="4" name="Text Placeholder 3">
            <a:extLst>
              <a:ext uri="{FF2B5EF4-FFF2-40B4-BE49-F238E27FC236}">
                <a16:creationId xmlns:a16="http://schemas.microsoft.com/office/drawing/2014/main" id="{52C44FE2-AF49-B978-5CCB-62E7D65AE4B7}"/>
              </a:ext>
            </a:extLst>
          </p:cNvPr>
          <p:cNvSpPr>
            <a:spLocks noGrp="1"/>
          </p:cNvSpPr>
          <p:nvPr>
            <p:ph type="body" sz="half" idx="2"/>
          </p:nvPr>
        </p:nvSpPr>
        <p:spPr>
          <a:xfrm>
            <a:off x="-1" y="2057400"/>
            <a:ext cx="10418165" cy="4800600"/>
          </a:xfrm>
        </p:spPr>
        <p:txBody>
          <a:bodyPr>
            <a:normAutofit fontScale="85000" lnSpcReduction="10000"/>
          </a:bodyPr>
          <a:lstStyle/>
          <a:p>
            <a:pPr>
              <a:lnSpc>
                <a:spcPct val="210000"/>
              </a:lnSpc>
            </a:pPr>
            <a:r>
              <a:rPr lang="en-US" dirty="0">
                <a:latin typeface="Times New Roman" panose="02020603050405020304" pitchFamily="18" charset="0"/>
                <a:cs typeface="Times New Roman" panose="02020603050405020304" pitchFamily="18" charset="0"/>
              </a:rPr>
              <a:t>A lawyer used ChatGPT to create a legal document, leading to his suspension (“Recent Cases Raise Questions about the Ethics of Using AI in the Legal System,” 2023). The unethical use of AI effectively removes the lawyer from his neutral, logical position on legal matters. A lawyer is supposed to make use of their own experience, knowledge, and training to ensure defendants receive the best possible legal counsel (“Recent Cases Raise Questions about the Ethics of Using AI in the Legal System,” 2023). This individual decided to forgo the typical process of writing his own legal document and handed his job off to an AI system that could deliver biased, misinformed, incorrect, or outdated information. Government agencies have started to adopt AI tools, such as chatbots and coding assistants, but have not informed their IT sectors about the decision (Thomson Reuters Corporation, 2026). The mass adoption of these tools has to do with the fact that it takes time to get new applications approved for government use, but free AI tools help to circumvent that issue by giving agencies access to AI tools with few obstacles (Thomson Reuters Corporation, 2026). This behavior is unethical as it jeopardizes government data and infrastructure by allowing agencies to use publicly available free AI tools that collect data. </a:t>
            </a:r>
          </a:p>
        </p:txBody>
      </p:sp>
    </p:spTree>
    <p:extLst>
      <p:ext uri="{BB962C8B-B14F-4D97-AF65-F5344CB8AC3E}">
        <p14:creationId xmlns:p14="http://schemas.microsoft.com/office/powerpoint/2010/main" val="119214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F7767-DD18-1FA0-6644-C7A973B17F1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The similarities between the use cases</a:t>
            </a:r>
          </a:p>
        </p:txBody>
      </p:sp>
      <p:sp>
        <p:nvSpPr>
          <p:cNvPr id="4" name="Text Placeholder 3">
            <a:extLst>
              <a:ext uri="{FF2B5EF4-FFF2-40B4-BE49-F238E27FC236}">
                <a16:creationId xmlns:a16="http://schemas.microsoft.com/office/drawing/2014/main" id="{F48AAD4F-A4EF-1117-AECE-A48F9BF50F71}"/>
              </a:ext>
            </a:extLst>
          </p:cNvPr>
          <p:cNvSpPr>
            <a:spLocks noGrp="1"/>
          </p:cNvSpPr>
          <p:nvPr>
            <p:ph type="body" sz="half" idx="2"/>
          </p:nvPr>
        </p:nvSpPr>
        <p:spPr>
          <a:xfrm>
            <a:off x="0" y="2057400"/>
            <a:ext cx="7704944" cy="4800600"/>
          </a:xfrm>
        </p:spPr>
        <p:txBody>
          <a:bodyPr/>
          <a:lstStyle/>
          <a:p>
            <a:pPr>
              <a:lnSpc>
                <a:spcPct val="200000"/>
              </a:lnSpc>
            </a:pPr>
            <a:r>
              <a:rPr lang="en-US" dirty="0">
                <a:latin typeface="Times New Roman" panose="02020603050405020304" pitchFamily="18" charset="0"/>
                <a:cs typeface="Times New Roman" panose="02020603050405020304" pitchFamily="18" charset="0"/>
              </a:rPr>
              <a:t>Both use cases show individuals who are unconcerned about the dangers of how AI can be used. The first use case shows a lawyer who decided to let the AI do his job for him (“Recent Cases Raise Questions about the Ethics of Using AI in the Legal System,” 2023). The second use case shows how government agencies are fed up with prolonged wait periods to use new applications and have decided to use free AI tools to accomplish their tasks (Thomson Reuters Corporation, 2026). Each case shows how AI has driven people to demand instant gratification by removing challenges from their jobs.</a:t>
            </a:r>
          </a:p>
        </p:txBody>
      </p:sp>
    </p:spTree>
    <p:extLst>
      <p:ext uri="{BB962C8B-B14F-4D97-AF65-F5344CB8AC3E}">
        <p14:creationId xmlns:p14="http://schemas.microsoft.com/office/powerpoint/2010/main" val="363963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78E98-7E94-C28D-F086-09215D320EFF}"/>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Who would be impacted by the AI and how they’d be impacted</a:t>
            </a:r>
          </a:p>
        </p:txBody>
      </p:sp>
      <p:sp>
        <p:nvSpPr>
          <p:cNvPr id="4" name="Text Placeholder 3">
            <a:extLst>
              <a:ext uri="{FF2B5EF4-FFF2-40B4-BE49-F238E27FC236}">
                <a16:creationId xmlns:a16="http://schemas.microsoft.com/office/drawing/2014/main" id="{40DBD01A-61FC-ABC6-F7A7-AF0CB8533461}"/>
              </a:ext>
            </a:extLst>
          </p:cNvPr>
          <p:cNvSpPr>
            <a:spLocks noGrp="1"/>
          </p:cNvSpPr>
          <p:nvPr>
            <p:ph type="body" sz="half" idx="2"/>
          </p:nvPr>
        </p:nvSpPr>
        <p:spPr>
          <a:xfrm>
            <a:off x="0" y="2057400"/>
            <a:ext cx="8949127" cy="4800600"/>
          </a:xfrm>
        </p:spPr>
        <p:txBody>
          <a:bodyPr>
            <a:normAutofit lnSpcReduction="10000"/>
          </a:bodyPr>
          <a:lstStyle/>
          <a:p>
            <a:pPr>
              <a:lnSpc>
                <a:spcPct val="200000"/>
              </a:lnSpc>
            </a:pPr>
            <a:r>
              <a:rPr lang="en-US" dirty="0">
                <a:latin typeface="Times New Roman" panose="02020603050405020304" pitchFamily="18" charset="0"/>
                <a:cs typeface="Times New Roman" panose="02020603050405020304" pitchFamily="18" charset="0"/>
              </a:rPr>
              <a:t>Workers, governments, and the average consumer would be impacted by artificial intelligence. If a lawyer decided to use an AI to ask for advice on a case, then it would show that they are unable or unwilling to put in the work themselves to help their client. The client would be at risk of receiving poor representation and potentially an unwanted sentence or fine. The government’s usage of free AI tools puts citizens and national databases at risk of being compromised (Thomson Reuters Corporation, 2026). Data security and data integrity are at risk from inputting information into public AI systems that will use private data as they see fit. Ethical AI policies would help these individuals by limiting their usage of outside applications that remove autonomy and allow for confidential data to be collected without much effort. Continuing down their current unethical AI path will only cause issues as the amount of private data being collected by external sources grows, which can compromise how effective governments and lawyers can be.  </a:t>
            </a:r>
          </a:p>
        </p:txBody>
      </p:sp>
    </p:spTree>
    <p:extLst>
      <p:ext uri="{BB962C8B-B14F-4D97-AF65-F5344CB8AC3E}">
        <p14:creationId xmlns:p14="http://schemas.microsoft.com/office/powerpoint/2010/main" val="828711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21DA-DF41-C9AC-C4AF-D95199F06A05}"/>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Recommendations and guidelines to avoid future unethical AI use</a:t>
            </a:r>
          </a:p>
        </p:txBody>
      </p:sp>
      <p:sp>
        <p:nvSpPr>
          <p:cNvPr id="4" name="Text Placeholder 3">
            <a:extLst>
              <a:ext uri="{FF2B5EF4-FFF2-40B4-BE49-F238E27FC236}">
                <a16:creationId xmlns:a16="http://schemas.microsoft.com/office/drawing/2014/main" id="{7597CD30-576E-AFCA-006A-D0E3368FCBAF}"/>
              </a:ext>
            </a:extLst>
          </p:cNvPr>
          <p:cNvSpPr>
            <a:spLocks noGrp="1"/>
          </p:cNvSpPr>
          <p:nvPr>
            <p:ph type="body" sz="half" idx="2"/>
          </p:nvPr>
        </p:nvSpPr>
        <p:spPr>
          <a:xfrm>
            <a:off x="0" y="2057400"/>
            <a:ext cx="8784236" cy="4800600"/>
          </a:xfrm>
        </p:spPr>
        <p:txBody>
          <a:bodyPr>
            <a:normAutofit lnSpcReduction="10000"/>
          </a:bodyPr>
          <a:lstStyle/>
          <a:p>
            <a:pPr>
              <a:lnSpc>
                <a:spcPct val="220000"/>
              </a:lnSpc>
            </a:pPr>
            <a:r>
              <a:rPr lang="en-US" dirty="0">
                <a:latin typeface="Times New Roman" panose="02020603050405020304" pitchFamily="18" charset="0"/>
                <a:cs typeface="Times New Roman" panose="02020603050405020304" pitchFamily="18" charset="0"/>
              </a:rPr>
              <a:t>Some guidelines to avoid future unethical AI usage would be the creation of a uniform policy across industries. For example, there should not be a reason for lawyers to generate an AI legal document without a valid reason. The creation of a lawyer’s legal oath that focuses on using your own knowledge, skill, and education to help clients and not an AI tool would be beneficial for preventing rampant misuse of AI tools throughout the legal world. Another beneficial guideline would be for government agencies to be required to inform their IT teams of new applications being installed on IoT devices. The usage of free AI tools presents a major problem for operational security, which is why IT teams should be capable of using software to monitor government hardware for new software installations to prevent unwanted AI applications from being used.</a:t>
            </a:r>
          </a:p>
        </p:txBody>
      </p:sp>
    </p:spTree>
    <p:extLst>
      <p:ext uri="{BB962C8B-B14F-4D97-AF65-F5344CB8AC3E}">
        <p14:creationId xmlns:p14="http://schemas.microsoft.com/office/powerpoint/2010/main" val="4263912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9A974-63A5-A7B8-86C9-9430608EEFE4}"/>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Identify the potential hazards and risks of using AI in the legal system</a:t>
            </a:r>
          </a:p>
        </p:txBody>
      </p:sp>
      <p:sp>
        <p:nvSpPr>
          <p:cNvPr id="4" name="Text Placeholder 3">
            <a:extLst>
              <a:ext uri="{FF2B5EF4-FFF2-40B4-BE49-F238E27FC236}">
                <a16:creationId xmlns:a16="http://schemas.microsoft.com/office/drawing/2014/main" id="{FEB6E825-C567-9F77-895B-73D6DD5E0EDD}"/>
              </a:ext>
            </a:extLst>
          </p:cNvPr>
          <p:cNvSpPr>
            <a:spLocks noGrp="1"/>
          </p:cNvSpPr>
          <p:nvPr>
            <p:ph type="body" sz="half" idx="2"/>
          </p:nvPr>
        </p:nvSpPr>
        <p:spPr>
          <a:xfrm>
            <a:off x="-1" y="2057400"/>
            <a:ext cx="7674965" cy="4800600"/>
          </a:xfrm>
        </p:spPr>
        <p:txBody>
          <a:bodyPr>
            <a:noAutofit/>
          </a:bodyPr>
          <a:lstStyle/>
          <a:p>
            <a:r>
              <a:rPr lang="en-US" dirty="0">
                <a:latin typeface="Times New Roman" panose="02020603050405020304" pitchFamily="18" charset="0"/>
                <a:cs typeface="Times New Roman" panose="02020603050405020304" pitchFamily="18" charset="0"/>
              </a:rPr>
              <a:t>The risks of using artificial intelligence in the legal system present ethical and privacy concerns. The data being uploaded to the AI systems can be left unencrypted by the AI company, which means that sensitive data can be left on a server in plain text. There’s also the risk of machine bias against or in favor of the defendant. If AI were used to generate an analysis of a legal case, then the algorithm could perceive minority defendants as a higher threat than their Caucasian counterparts (Angwin et al., 2016). The hazards from these risks could leave the AI companies and their users at risk of data theft or biased court cases. If data transferred to an AI program is left unencrypted and stored in plain text on a server, an insider threat or hacker could easily access the data and use it for their own purposes. An organization can be impacted by this issue as it leaves them unable to maintain data confidentiality. The other hazard is the use of AI to generate legal documents. AI software is trained on existing data, which means biased assessments are likely to occur (Angwin et al., 2016). An AI algorithm could label one race as higher risk of committing a crime, compared to another race/nationality (Angwin et al., 2016). This can impact how suspects are treated. For example, a judge could raise or lower bond for someone depending on how the AI assesses their potential risk for future crimes (Angwin et al., 2016).</a:t>
            </a:r>
          </a:p>
        </p:txBody>
      </p:sp>
    </p:spTree>
    <p:extLst>
      <p:ext uri="{BB962C8B-B14F-4D97-AF65-F5344CB8AC3E}">
        <p14:creationId xmlns:p14="http://schemas.microsoft.com/office/powerpoint/2010/main" val="4103241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D5BDA-2669-FB17-73C3-37CE96F2F72B}"/>
              </a:ext>
            </a:extLst>
          </p:cNvPr>
          <p:cNvSpPr>
            <a:spLocks noGrp="1"/>
          </p:cNvSpPr>
          <p:nvPr>
            <p:ph type="title"/>
          </p:nvPr>
        </p:nvSpPr>
        <p:spPr>
          <a:xfrm>
            <a:off x="839788" y="457200"/>
            <a:ext cx="5800855" cy="1600200"/>
          </a:xfrm>
        </p:spPr>
        <p:txBody>
          <a:bodyPr>
            <a:normAutofit fontScale="90000"/>
          </a:bodyPr>
          <a:lstStyle/>
          <a:p>
            <a:r>
              <a:rPr lang="en-US" dirty="0">
                <a:latin typeface="Times New Roman" panose="02020603050405020304" pitchFamily="18" charset="0"/>
                <a:cs typeface="Times New Roman" panose="02020603050405020304" pitchFamily="18" charset="0"/>
              </a:rPr>
              <a:t>Ethical strategies: What actions should employees take to minimize risk &amp; what should customers be aware of/How will the ethical framework be used in the risk-mitigation strategy </a:t>
            </a:r>
          </a:p>
        </p:txBody>
      </p:sp>
      <p:sp>
        <p:nvSpPr>
          <p:cNvPr id="4" name="Text Placeholder 3">
            <a:extLst>
              <a:ext uri="{FF2B5EF4-FFF2-40B4-BE49-F238E27FC236}">
                <a16:creationId xmlns:a16="http://schemas.microsoft.com/office/drawing/2014/main" id="{1E930F40-94DA-035E-0CDF-1CD360F4478A}"/>
              </a:ext>
            </a:extLst>
          </p:cNvPr>
          <p:cNvSpPr>
            <a:spLocks noGrp="1"/>
          </p:cNvSpPr>
          <p:nvPr>
            <p:ph type="body" sz="half" idx="2"/>
          </p:nvPr>
        </p:nvSpPr>
        <p:spPr>
          <a:xfrm>
            <a:off x="-1" y="2057400"/>
            <a:ext cx="8889168" cy="4800600"/>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Employees should act to minimize the risk of unencrypted data being left on external AI servers by having legal and compliance guidelines to prevent critical information from being exposed. For example, information related to the case should not be uploaded, nor should the defendant’s ethnicity or race. Personally identifiable information should not be uploaded to external algorithms, as legal experts should remain aware that AI is influenced by multiple sets of data, which can deliver biased or incorrect information (Thomson Reuters Corporation, 2026). An employee should take steps to prevent unwanted legal advice by reviewing legal documents themselves or asking an authorized colleague before asking AI software. Legal employees should also take steps to ensure that their personal understanding of the law is prioritized for the task required. This can prevent them from needing to use an AI to answer small questions, which could increase their reliance on the tool in the future. A customer of AI software should understand that the data they upload is no longer private once it is uploaded. These customers should take steps to ensure that the data they choose to upload is outdated, unimportant, or anonymized information that can not be tracked back to a specific source.  </a:t>
            </a:r>
          </a:p>
          <a:p>
            <a:r>
              <a:rPr lang="en-US" dirty="0">
                <a:latin typeface="Times New Roman" panose="02020603050405020304" pitchFamily="18" charset="0"/>
                <a:cs typeface="Times New Roman" panose="02020603050405020304" pitchFamily="18" charset="0"/>
              </a:rPr>
              <a:t>Ethical frameworks will be incorporated into the risk-mitigation strategy to identify gaps in the current structure. The principles of beneficence, non-maleficence, autonomy, justice, and explicability can be incorporated into the risk-mitigation strategy to prevent lawyers from losing control of a case and prevent unwanted privacy concerns (</a:t>
            </a:r>
            <a:r>
              <a:rPr lang="en-US" dirty="0" err="1">
                <a:latin typeface="Times New Roman" panose="02020603050405020304" pitchFamily="18" charset="0"/>
                <a:cs typeface="Times New Roman" panose="02020603050405020304" pitchFamily="18" charset="0"/>
              </a:rPr>
              <a:t>Floridi</a:t>
            </a:r>
            <a:r>
              <a:rPr lang="en-US" dirty="0">
                <a:latin typeface="Times New Roman" panose="02020603050405020304" pitchFamily="18" charset="0"/>
                <a:cs typeface="Times New Roman" panose="02020603050405020304" pitchFamily="18" charset="0"/>
              </a:rPr>
              <a:t> &amp; Cowls, 2019). This helps prevent biased court decisions so that justice can prevail and helps teach legal experts about how their use of AI in court could shape the future of legal decisions and defendants.  </a:t>
            </a:r>
          </a:p>
        </p:txBody>
      </p:sp>
    </p:spTree>
    <p:extLst>
      <p:ext uri="{BB962C8B-B14F-4D97-AF65-F5344CB8AC3E}">
        <p14:creationId xmlns:p14="http://schemas.microsoft.com/office/powerpoint/2010/main" val="2157497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72776-3C4A-09F9-5B00-E20F0F1E921E}"/>
              </a:ext>
            </a:extLst>
          </p:cNvPr>
          <p:cNvSpPr>
            <a:spLocks noGrp="1"/>
          </p:cNvSpPr>
          <p:nvPr>
            <p:ph type="title"/>
          </p:nvPr>
        </p:nvSpPr>
        <p:spPr>
          <a:xfrm>
            <a:off x="839788" y="457200"/>
            <a:ext cx="5576002" cy="1600200"/>
          </a:xfrm>
        </p:spPr>
        <p:txBody>
          <a:bodyPr>
            <a:normAutofit fontScale="90000"/>
          </a:bodyPr>
          <a:lstStyle/>
          <a:p>
            <a:r>
              <a:rPr lang="en-US" dirty="0">
                <a:latin typeface="Times New Roman" panose="02020603050405020304" pitchFamily="18" charset="0"/>
                <a:cs typeface="Times New Roman" panose="02020603050405020304" pitchFamily="18" charset="0"/>
              </a:rPr>
              <a:t>Employee training &amp; documentation needed to maintain risk-mitigation plan/Who is responsible for updating and maintaining policies, training, and documentation</a:t>
            </a:r>
          </a:p>
        </p:txBody>
      </p:sp>
      <p:sp>
        <p:nvSpPr>
          <p:cNvPr id="4" name="Text Placeholder 3">
            <a:extLst>
              <a:ext uri="{FF2B5EF4-FFF2-40B4-BE49-F238E27FC236}">
                <a16:creationId xmlns:a16="http://schemas.microsoft.com/office/drawing/2014/main" id="{9E09FA4E-4DD2-489B-C5AC-CB327C94118E}"/>
              </a:ext>
            </a:extLst>
          </p:cNvPr>
          <p:cNvSpPr>
            <a:spLocks noGrp="1"/>
          </p:cNvSpPr>
          <p:nvPr>
            <p:ph type="body" sz="half" idx="2"/>
          </p:nvPr>
        </p:nvSpPr>
        <p:spPr>
          <a:xfrm>
            <a:off x="0" y="2057400"/>
            <a:ext cx="6820525" cy="4800600"/>
          </a:xfrm>
        </p:spPr>
        <p:txBody>
          <a:bodyPr>
            <a:normAutofit/>
          </a:bodyPr>
          <a:lstStyle/>
          <a:p>
            <a:r>
              <a:rPr lang="en-US" dirty="0">
                <a:latin typeface="Times New Roman" panose="02020603050405020304" pitchFamily="18" charset="0"/>
                <a:cs typeface="Times New Roman" panose="02020603050405020304" pitchFamily="18" charset="0"/>
              </a:rPr>
              <a:t>A governance plan should be created and given to legal experts about how AI can be used. It should contain legal and regulatory compliance information related to the legal staff’s current state and country. In addition, the law practice should have its own set of privacy laws and employee compliance laws that adhere to local and federal ones. The employees should be trained to rely on their own knowledge. This can be reinforced annually by requiring legal staff to take an in-person written exam to test their proficiency levels. The policy owner, in conjunction with their compliance team, would be responsible for updating and maintaining policies that fit the legal practice. The policy owner and compliance team would use the legal team to make sure the documents are in line with federal and state laws. The training and documentation would be carried out by the policy owner to ensure the legal practice has competent lawyers and personally review the documentation themselves to make sure it aligns with the company’s interests. </a:t>
            </a:r>
          </a:p>
        </p:txBody>
      </p:sp>
    </p:spTree>
    <p:extLst>
      <p:ext uri="{BB962C8B-B14F-4D97-AF65-F5344CB8AC3E}">
        <p14:creationId xmlns:p14="http://schemas.microsoft.com/office/powerpoint/2010/main" val="635237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B4BF1-4DE7-8265-4B6A-44B4A80F4FBD}"/>
              </a:ext>
            </a:extLst>
          </p:cNvPr>
          <p:cNvSpPr>
            <a:spLocks noGrp="1"/>
          </p:cNvSpPr>
          <p:nvPr>
            <p:ph type="title"/>
          </p:nvPr>
        </p:nvSpPr>
        <p:spPr>
          <a:xfrm>
            <a:off x="0" y="659565"/>
            <a:ext cx="3932237" cy="1202961"/>
          </a:xfrm>
        </p:spPr>
        <p:txBody>
          <a:bodyPr/>
          <a:lstStyle/>
          <a:p>
            <a:r>
              <a:rPr lang="en-US" dirty="0">
                <a:latin typeface="Times New Roman" panose="02020603050405020304" pitchFamily="18" charset="0"/>
                <a:cs typeface="Times New Roman" panose="02020603050405020304" pitchFamily="18" charset="0"/>
              </a:rPr>
              <a:t>References </a:t>
            </a:r>
          </a:p>
        </p:txBody>
      </p:sp>
      <p:sp>
        <p:nvSpPr>
          <p:cNvPr id="4" name="Text Placeholder 3">
            <a:extLst>
              <a:ext uri="{FF2B5EF4-FFF2-40B4-BE49-F238E27FC236}">
                <a16:creationId xmlns:a16="http://schemas.microsoft.com/office/drawing/2014/main" id="{FF7BFD81-9685-9731-7651-2260DE0E8DA6}"/>
              </a:ext>
            </a:extLst>
          </p:cNvPr>
          <p:cNvSpPr>
            <a:spLocks noGrp="1"/>
          </p:cNvSpPr>
          <p:nvPr>
            <p:ph type="body" sz="half" idx="2"/>
          </p:nvPr>
        </p:nvSpPr>
        <p:spPr>
          <a:xfrm>
            <a:off x="0" y="1723869"/>
            <a:ext cx="12192000" cy="4916774"/>
          </a:xfrm>
        </p:spPr>
        <p:txBody>
          <a:bodyPr>
            <a:noAutofit/>
          </a:bodyPr>
          <a:lstStyle/>
          <a:p>
            <a:pPr algn="ctr">
              <a:lnSpc>
                <a:spcPct val="200000"/>
              </a:lnSpc>
            </a:pPr>
            <a:r>
              <a:rPr lang="en-US" dirty="0" err="1">
                <a:latin typeface="Times New Roman" panose="02020603050405020304" pitchFamily="18" charset="0"/>
                <a:cs typeface="Times New Roman" panose="02020603050405020304" pitchFamily="18" charset="0"/>
              </a:rPr>
              <a:t>Floridi</a:t>
            </a:r>
            <a:r>
              <a:rPr lang="en-US" dirty="0">
                <a:latin typeface="Times New Roman" panose="02020603050405020304" pitchFamily="18" charset="0"/>
                <a:cs typeface="Times New Roman" panose="02020603050405020304" pitchFamily="18" charset="0"/>
              </a:rPr>
              <a:t>, L., &amp; Cowls, J. (2019). A Unified Framework of Five Principles for AI in Society. Harvard Data Science Review, 1(1). </a:t>
            </a:r>
            <a:r>
              <a:rPr lang="en-US" dirty="0">
                <a:latin typeface="Times New Roman" panose="02020603050405020304" pitchFamily="18" charset="0"/>
                <a:cs typeface="Times New Roman" panose="02020603050405020304" pitchFamily="18" charset="0"/>
                <a:hlinkClick r:id="rId3"/>
              </a:rPr>
              <a:t>https://doi.org/10.1162/99608f92.8cd550d1</a:t>
            </a:r>
            <a:r>
              <a:rPr lang="en-US" dirty="0">
                <a:latin typeface="Times New Roman" panose="02020603050405020304" pitchFamily="18" charset="0"/>
                <a:cs typeface="Times New Roman" panose="02020603050405020304" pitchFamily="18" charset="0"/>
              </a:rPr>
              <a:t> </a:t>
            </a:r>
          </a:p>
          <a:p>
            <a:pPr algn="ctr">
              <a:lnSpc>
                <a:spcPct val="200000"/>
              </a:lnSpc>
            </a:pPr>
            <a:r>
              <a:rPr lang="en-US" dirty="0">
                <a:latin typeface="Times New Roman" panose="02020603050405020304" pitchFamily="18" charset="0"/>
                <a:cs typeface="Times New Roman" panose="02020603050405020304" pitchFamily="18" charset="0"/>
              </a:rPr>
              <a:t>Recent cases raise questions about the ethics of using AI in the legal system. (2023). In NPR. </a:t>
            </a:r>
            <a:r>
              <a:rPr lang="en-US" dirty="0">
                <a:latin typeface="Times New Roman" panose="02020603050405020304" pitchFamily="18" charset="0"/>
                <a:cs typeface="Times New Roman" panose="02020603050405020304" pitchFamily="18" charset="0"/>
                <a:hlinkClick r:id="rId4"/>
              </a:rPr>
              <a:t>https://www.npr.org/2023/12/15/1219512064/recent-cases-raise-questions-about-the-ethics-of-using-ai-in-the-legal-system</a:t>
            </a:r>
            <a:r>
              <a:rPr lang="en-US" dirty="0">
                <a:latin typeface="Times New Roman" panose="02020603050405020304" pitchFamily="18" charset="0"/>
                <a:cs typeface="Times New Roman" panose="02020603050405020304" pitchFamily="18" charset="0"/>
              </a:rPr>
              <a:t> </a:t>
            </a:r>
          </a:p>
          <a:p>
            <a:pPr algn="ctr">
              <a:lnSpc>
                <a:spcPct val="200000"/>
              </a:lnSpc>
            </a:pPr>
            <a:r>
              <a:rPr lang="en-US" dirty="0">
                <a:latin typeface="Times New Roman" panose="02020603050405020304" pitchFamily="18" charset="0"/>
                <a:cs typeface="Times New Roman" panose="02020603050405020304" pitchFamily="18" charset="0"/>
              </a:rPr>
              <a:t>NCSL. (2023). Artificial Intelligence 2023 Legislation. In www.ncsl.org. NCSL. </a:t>
            </a:r>
            <a:r>
              <a:rPr lang="en-US" dirty="0">
                <a:latin typeface="Times New Roman" panose="02020603050405020304" pitchFamily="18" charset="0"/>
                <a:cs typeface="Times New Roman" panose="02020603050405020304" pitchFamily="18" charset="0"/>
                <a:hlinkClick r:id="rId5"/>
              </a:rPr>
              <a:t>https://www.ncsl.org/technology-and-communication/artificial-intelligence-2023-legislation</a:t>
            </a:r>
            <a:endParaRPr lang="en-US" dirty="0">
              <a:latin typeface="Times New Roman" panose="02020603050405020304" pitchFamily="18" charset="0"/>
              <a:cs typeface="Times New Roman" panose="02020603050405020304" pitchFamily="18" charset="0"/>
            </a:endParaRPr>
          </a:p>
          <a:p>
            <a:pPr algn="ctr">
              <a:lnSpc>
                <a:spcPct val="200000"/>
              </a:lnSpc>
            </a:pPr>
            <a:r>
              <a:rPr lang="en-US" dirty="0">
                <a:latin typeface="Times New Roman" panose="02020603050405020304" pitchFamily="18" charset="0"/>
                <a:cs typeface="Times New Roman" panose="02020603050405020304" pitchFamily="18" charset="0"/>
              </a:rPr>
              <a:t>Thomson Reuters Corporation. (2026). </a:t>
            </a:r>
            <a:r>
              <a:rPr lang="en-US" dirty="0" err="1">
                <a:latin typeface="Times New Roman" panose="02020603050405020304" pitchFamily="18" charset="0"/>
                <a:cs typeface="Times New Roman" panose="02020603050405020304" pitchFamily="18" charset="0"/>
              </a:rPr>
              <a:t>Thomsonreuters.Com</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hlinkClick r:id="rId6"/>
              </a:rPr>
              <a:t>https://www.thomsonreuters.com/en/institute/articles/shadow-ai-unsanctioned-tools</a:t>
            </a:r>
            <a:r>
              <a:rPr lang="en-US" dirty="0">
                <a:latin typeface="Times New Roman" panose="02020603050405020304" pitchFamily="18" charset="0"/>
                <a:cs typeface="Times New Roman" panose="02020603050405020304" pitchFamily="18" charset="0"/>
              </a:rPr>
              <a:t> </a:t>
            </a:r>
          </a:p>
          <a:p>
            <a:pPr algn="ctr">
              <a:lnSpc>
                <a:spcPct val="200000"/>
              </a:lnSpc>
            </a:pPr>
            <a:r>
              <a:rPr lang="en-US" dirty="0">
                <a:latin typeface="Times New Roman" panose="02020603050405020304" pitchFamily="18" charset="0"/>
                <a:cs typeface="Times New Roman" panose="02020603050405020304" pitchFamily="18" charset="0"/>
              </a:rPr>
              <a:t>Angwin, J., Larson, J., Mattu, S., &amp; Kirchner, L. (2016). Machine Bias. In ProPublica. ProPublica. </a:t>
            </a:r>
            <a:r>
              <a:rPr lang="en-US" dirty="0">
                <a:latin typeface="Times New Roman" panose="02020603050405020304" pitchFamily="18" charset="0"/>
                <a:cs typeface="Times New Roman" panose="02020603050405020304" pitchFamily="18" charset="0"/>
                <a:hlinkClick r:id="rId7"/>
              </a:rPr>
              <a:t>https://www.propublica.org/article/machine-bias-risk-assessments-in-criminal-sentencing</a:t>
            </a: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8381309"/>
      </p:ext>
    </p:extLst>
  </p:cSld>
  <p:clrMapOvr>
    <a:masterClrMapping/>
  </p:clrMapOvr>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Film Burn</Template>
  <TotalTime>563</TotalTime>
  <Words>2628</Words>
  <Application>Microsoft Office PowerPoint</Application>
  <PresentationFormat>Widescreen</PresentationFormat>
  <Paragraphs>73</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Neue Haas Grotesk Text Pro</vt:lpstr>
      <vt:lpstr>Times New Roman</vt:lpstr>
      <vt:lpstr>Film Burn</vt:lpstr>
      <vt:lpstr>Tamani Harrison</vt:lpstr>
      <vt:lpstr>Key characteristics of the ethics framework. </vt:lpstr>
      <vt:lpstr>The ethical principles of the framework used in the policy guidelines</vt:lpstr>
      <vt:lpstr>Recommendations for policy improvement</vt:lpstr>
      <vt:lpstr>How AI was used unethically </vt:lpstr>
      <vt:lpstr>The similarities between the use cases</vt:lpstr>
      <vt:lpstr>Who would be impacted by the AI and how they’d be impacted</vt:lpstr>
      <vt:lpstr>Recommendations and guidelines to avoid future unethical AI use</vt:lpstr>
      <vt:lpstr>Identify the potential hazards and risks of using AI in the legal system</vt:lpstr>
      <vt:lpstr>Ethical strategies: What actions should employees take to minimize risk &amp; what should customers be aware of/How will the ethical framework be used in the risk-mitigation strategy </vt:lpstr>
      <vt:lpstr>Employee training &amp; documentation needed to maintain risk-mitigation plan/Who is responsible for updating and maintaining policies, training, and documentation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Harrison, Tamani</dc:creator>
  <cp:lastModifiedBy>Harrison, Tamani</cp:lastModifiedBy>
  <cp:revision>99</cp:revision>
  <dcterms:created xsi:type="dcterms:W3CDTF">2026-08-02T22:19:13Z</dcterms:created>
  <dcterms:modified xsi:type="dcterms:W3CDTF">2026-08-17T00:28:06Z</dcterms:modified>
</cp:coreProperties>
</file>